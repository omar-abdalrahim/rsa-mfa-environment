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65"/>
      <p:bold r:id="rId66"/>
      <p:italic r:id="rId67"/>
      <p:boldItalic r:id="rId68"/>
    </p:embeddedFont>
    <p:embeddedFont>
      <p:font typeface="Dancing Script" panose="020B0604020202020204" charset="0"/>
      <p:regular r:id="rId69"/>
      <p:bold r:id="rId70"/>
    </p:embeddedFont>
    <p:embeddedFont>
      <p:font typeface="Lato" panose="020F0502020204030203" pitchFamily="34" charset="0"/>
      <p:regular r:id="rId71"/>
      <p:bold r:id="rId72"/>
      <p:italic r:id="rId73"/>
      <p:boldItalic r:id="rId74"/>
    </p:embeddedFont>
    <p:embeddedFont>
      <p:font typeface="Roboto Mono" panose="00000009000000000000" pitchFamily="49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D048A7-DF09-4D06-8713-BF211CBF74F3}">
  <a:tblStyle styleId="{D9D048A7-DF09-4D06-8713-BF211CBF74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6" autoAdjust="0"/>
  </p:normalViewPr>
  <p:slideViewPr>
    <p:cSldViewPr snapToGrid="0">
      <p:cViewPr varScale="1">
        <p:scale>
          <a:sx n="145" d="100"/>
          <a:sy n="145" d="100"/>
        </p:scale>
        <p:origin x="100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0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9635f72f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9635f72f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a30310374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a30310374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9701008f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9701008f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9701008ff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9701008ff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9635f72f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9635f72f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9888eed4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9888eed4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9888eed4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9888eed4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303103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a303103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9888eed4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9888eed4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9888eed43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9888eed43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9701008f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9701008f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a30310374_3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a30310374_3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9701008ff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9701008ff_3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9888ee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9888eed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9888eed4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9888eed4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9701008ff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9701008ff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9701008ff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9701008ff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9701008ff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9701008ff_3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9701008ff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9701008ff_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9701008ff_3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9701008ff_3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9701008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9701008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a30310374_7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a30310374_7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98e9bbbb1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98e9bbbb1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98e9bbbb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98e9bbbb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98e9bbbb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98e9bbbb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98e9bbbb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598e9bbbb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598e9bbbb1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598e9bbbb1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a30310374_7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5a30310374_7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a30310374_7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5a30310374_7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98e9bbbb1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98e9bbbb1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a30310374_7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a30310374_7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59701008f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59701008ff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5a3031037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5a30310374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a30310374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5a30310374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5a30310374_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5a30310374_2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a30310374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a30310374_2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5a30310374_2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5a30310374_2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a30310374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a30310374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5a30310374_2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5a30310374_2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5a30310374_2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5a30310374_2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5a30310374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5a30310374_2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5a30310374_6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5a30310374_6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5a30310374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5a30310374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59701008f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59701008f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a30310374_6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5a30310374_6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a30310374_6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5a30310374_6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5a30310374_6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5a30310374_6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5a30310374_6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5a30310374_6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5a30310374_6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5a30310374_6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5a30310374_6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5a30310374_6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5a30310374_6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5a30310374_6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5a30310374_6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5a30310374_6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a30310374_6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a30310374_6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5a30310374_6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5a30310374_6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5a30310374_6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5a30310374_6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5a30310374_6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5a30310374_6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5a30310374_6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5a30310374_6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5a30310374_6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5a30310374_6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5a30310374_6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5a30310374_6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59635f72f6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59635f72f6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59635f72f6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59635f72f6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gif"/><Relationship Id="rId5" Type="http://schemas.openxmlformats.org/officeDocument/2006/relationships/image" Target="../media/image47.gif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-75" y="2255475"/>
            <a:ext cx="9144000" cy="11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3454000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Team 4</a:t>
            </a:r>
            <a:endParaRPr sz="35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 title="RSA_Security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7000"/>
            <a:ext cx="2101248" cy="6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1050" y="115713"/>
            <a:ext cx="2101250" cy="89092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0" y="1371400"/>
            <a:ext cx="91440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ambria"/>
                <a:ea typeface="Cambria"/>
                <a:cs typeface="Cambria"/>
                <a:sym typeface="Cambria"/>
              </a:rPr>
              <a:t>Faculty of Information Engineering and Technology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ambria"/>
                <a:ea typeface="Cambria"/>
                <a:cs typeface="Cambria"/>
                <a:sym typeface="Cambria"/>
              </a:rPr>
              <a:t>Networks Departement 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cxnSp>
        <p:nvCxnSpPr>
          <p:cNvPr id="65" name="Google Shape;65;p1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4" title="500px-GUC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RSA_Security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" name="Initiating">
            <a:hlinkClick r:id="" action="ppaction://media"/>
            <a:extLst>
              <a:ext uri="{FF2B5EF4-FFF2-40B4-BE49-F238E27FC236}">
                <a16:creationId xmlns:a16="http://schemas.microsoft.com/office/drawing/2014/main" id="{6F568CB5-B03E-FAE1-C519-4F36789753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2376" y="517180"/>
            <a:ext cx="7442569" cy="4186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cxnSp>
        <p:nvCxnSpPr>
          <p:cNvPr id="75" name="Google Shape;75;p1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6" name="Google Shape;76;p1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352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00075" y="1333500"/>
            <a:ext cx="8086800" cy="3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	Foundation Setup			</a:t>
            </a: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	Enable MFA</a:t>
            </a: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	App-Level Security					</a:t>
            </a: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	Stress Testing</a:t>
            </a:r>
            <a:endParaRPr sz="2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cxnSp>
        <p:nvCxnSpPr>
          <p:cNvPr id="86" name="Google Shape;86;p1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7" name="Google Shape;87;p16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 l="7108" t="16078" r="15796" b="27229"/>
          <a:stretch/>
        </p:blipFill>
        <p:spPr>
          <a:xfrm>
            <a:off x="1552225" y="286075"/>
            <a:ext cx="5929200" cy="308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311700" y="3445375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51435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500"/>
              <a:buFont typeface="Cambria"/>
              <a:buAutoNum type="arabicPeriod"/>
            </a:pPr>
            <a:r>
              <a:rPr lang="en-GB" sz="4500">
                <a:latin typeface="Cambria"/>
                <a:ea typeface="Cambria"/>
                <a:cs typeface="Cambria"/>
                <a:sym typeface="Cambria"/>
              </a:rPr>
              <a:t>Foundation Setup	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Setting up Domain Controller VM </a:t>
            </a:r>
            <a:endParaRPr sz="2200"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cxnSp>
        <p:nvCxnSpPr>
          <p:cNvPr id="98" name="Google Shape;98;p1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9" name="Google Shape;99;p1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 rotWithShape="1">
          <a:blip r:embed="rId5">
            <a:alphaModFix/>
          </a:blip>
          <a:srcRect t="4808" r="5962" b="6953"/>
          <a:stretch/>
        </p:blipFill>
        <p:spPr>
          <a:xfrm>
            <a:off x="1049475" y="789001"/>
            <a:ext cx="5835437" cy="373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Domain Controller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Network Settings</a:t>
            </a:r>
            <a:endParaRPr sz="2200"/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cxnSp>
        <p:nvCxnSpPr>
          <p:cNvPr id="109" name="Google Shape;109;p1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0" name="Google Shape;110;p18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18"/>
          <p:cNvGraphicFramePr/>
          <p:nvPr/>
        </p:nvGraphicFramePr>
        <p:xfrm>
          <a:off x="406725" y="1365925"/>
          <a:ext cx="8330550" cy="2929512"/>
        </p:xfrm>
        <a:graphic>
          <a:graphicData uri="http://schemas.openxmlformats.org/drawingml/2006/table">
            <a:tbl>
              <a:tblPr>
                <a:noFill/>
                <a:tableStyleId>{D9D048A7-DF09-4D06-8713-BF211CBF74F3}</a:tableStyleId>
              </a:tblPr>
              <a:tblGrid>
                <a:gridCol w="41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Virtual Machine Function (Domain Controller/MFA Agent/IDR)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Domain Controller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Operating System (Windows/Linux)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Windows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Fully Qualified Domain Name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rsa4-local.com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IP Address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192.168.95.128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Gateway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192.168.95.2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DNS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Primary:192.168.95.2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Secondary:8.8.8.8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" name="Google Shape;113;p1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IDR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Network Settings</a:t>
            </a:r>
            <a:endParaRPr sz="2200"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cxnSp>
        <p:nvCxnSpPr>
          <p:cNvPr id="120" name="Google Shape;120;p1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1" name="Google Shape;121;p1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p19"/>
          <p:cNvGraphicFramePr/>
          <p:nvPr/>
        </p:nvGraphicFramePr>
        <p:xfrm>
          <a:off x="406725" y="1365925"/>
          <a:ext cx="8330550" cy="2929512"/>
        </p:xfrm>
        <a:graphic>
          <a:graphicData uri="http://schemas.openxmlformats.org/drawingml/2006/table">
            <a:tbl>
              <a:tblPr>
                <a:noFill/>
                <a:tableStyleId>{D9D048A7-DF09-4D06-8713-BF211CBF74F3}</a:tableStyleId>
              </a:tblPr>
              <a:tblGrid>
                <a:gridCol w="41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Virtual Machine Function (Domain Controller/MFA Agent/IDR)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IDR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Operating System (Windows/Linux)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Linux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Fully Qualified Domain Name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rsa4-local.com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IP Address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192.168.95.129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Gateway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192.168.95.2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DNS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Primary:192.168.95.128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Secondary:8.8.8.8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4" name="Google Shape;124;p19"/>
          <p:cNvSpPr/>
          <p:nvPr/>
        </p:nvSpPr>
        <p:spPr>
          <a:xfrm>
            <a:off x="4623725" y="3603700"/>
            <a:ext cx="2582400" cy="239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IDR connected to the CAS</a:t>
            </a:r>
            <a:endParaRPr sz="2200"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cxnSp>
        <p:nvCxnSpPr>
          <p:cNvPr id="132" name="Google Shape;132;p2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3" name="Google Shape;133;p2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5">
            <a:alphaModFix/>
          </a:blip>
          <a:srcRect t="7576" r="10690" b="20262"/>
          <a:stretch/>
        </p:blipFill>
        <p:spPr>
          <a:xfrm>
            <a:off x="108900" y="771925"/>
            <a:ext cx="7972799" cy="384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3311050" y="2516300"/>
            <a:ext cx="1937700" cy="174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1742050" y="2516300"/>
            <a:ext cx="1033800" cy="174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1644175" y="1798950"/>
            <a:ext cx="783000" cy="238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Synchronizing AD with the CAS </a:t>
            </a:r>
            <a:endParaRPr sz="2200"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cxnSp>
        <p:nvCxnSpPr>
          <p:cNvPr id="146" name="Google Shape;146;p2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7" name="Google Shape;147;p21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65325"/>
            <a:ext cx="8839197" cy="174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588" y="2571750"/>
            <a:ext cx="8416823" cy="205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600275" y="4103925"/>
            <a:ext cx="2582400" cy="206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Configuring Access Policy 2.0 for My Page</a:t>
            </a:r>
            <a:endParaRPr sz="2200"/>
          </a:p>
        </p:txBody>
      </p:sp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cxnSp>
        <p:nvCxnSpPr>
          <p:cNvPr id="159" name="Google Shape;159;p2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0" name="Google Shape;160;p22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65325"/>
            <a:ext cx="4591756" cy="368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 rotWithShape="1">
          <a:blip r:embed="rId6">
            <a:alphaModFix/>
          </a:blip>
          <a:srcRect r="27525"/>
          <a:stretch/>
        </p:blipFill>
        <p:spPr>
          <a:xfrm>
            <a:off x="5006175" y="916726"/>
            <a:ext cx="4014974" cy="34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/>
          <p:nvPr/>
        </p:nvSpPr>
        <p:spPr>
          <a:xfrm>
            <a:off x="1875650" y="3016550"/>
            <a:ext cx="1937700" cy="238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689800" y="3136325"/>
            <a:ext cx="1109100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Accessing My Page</a:t>
            </a:r>
            <a:endParaRPr sz="2200"/>
          </a:p>
        </p:txBody>
      </p:sp>
      <p:sp>
        <p:nvSpPr>
          <p:cNvPr id="172" name="Google Shape;17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cxnSp>
        <p:nvCxnSpPr>
          <p:cNvPr id="173" name="Google Shape;173;p2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4" name="Google Shape;174;p2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5">
            <a:alphaModFix/>
          </a:blip>
          <a:srcRect l="6216" r="3293" b="22166"/>
          <a:stretch/>
        </p:blipFill>
        <p:spPr>
          <a:xfrm>
            <a:off x="235500" y="865325"/>
            <a:ext cx="5970974" cy="291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 rotWithShape="1">
          <a:blip r:embed="rId6">
            <a:alphaModFix/>
          </a:blip>
          <a:srcRect l="8424" t="5555" r="51740" b="16642"/>
          <a:stretch/>
        </p:blipFill>
        <p:spPr>
          <a:xfrm>
            <a:off x="5929925" y="865324"/>
            <a:ext cx="3042049" cy="35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757950" y="2661100"/>
            <a:ext cx="1261500" cy="15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757950" y="2994400"/>
            <a:ext cx="1261500" cy="15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309225" y="2875475"/>
            <a:ext cx="467700" cy="173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cxnSp>
        <p:nvCxnSpPr>
          <p:cNvPr id="187" name="Google Shape;187;p2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8" name="Google Shape;188;p24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300" y="306224"/>
            <a:ext cx="5929200" cy="308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311700" y="3445375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4500">
                <a:latin typeface="Cambria"/>
                <a:ea typeface="Cambria"/>
                <a:cs typeface="Cambria"/>
                <a:sym typeface="Cambria"/>
              </a:rPr>
              <a:t>2.	 Enable MFA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cxnSp>
        <p:nvCxnSpPr>
          <p:cNvPr id="198" name="Google Shape;198;p2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9" name="Google Shape;199;p2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311700" y="1429225"/>
            <a:ext cx="1695600" cy="8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 User Group</a:t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2258550" y="1649025"/>
            <a:ext cx="645000" cy="284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3258188" y="1429200"/>
            <a:ext cx="1695600" cy="8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MFA Policy on CAS</a:t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5308425" y="1649025"/>
            <a:ext cx="645000" cy="284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6516775" y="1429250"/>
            <a:ext cx="1695600" cy="8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Install MFA Agent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7123750" y="2484038"/>
            <a:ext cx="303600" cy="596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6464450" y="3305488"/>
            <a:ext cx="1695600" cy="8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Configure GPO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 flipH="1">
            <a:off x="5398550" y="3587038"/>
            <a:ext cx="645000" cy="284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3481275" y="3305475"/>
            <a:ext cx="1695600" cy="8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 MFA Authentication</a:t>
            </a:r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MFA Implementation Workflow</a:t>
            </a:r>
            <a:endParaRPr sz="3520"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MFA Policy at  CAS </a:t>
            </a:r>
            <a:endParaRPr sz="2200"/>
          </a:p>
        </p:txBody>
      </p:sp>
      <p:sp>
        <p:nvSpPr>
          <p:cNvPr id="218" name="Google Shape;21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cxnSp>
        <p:nvCxnSpPr>
          <p:cNvPr id="219" name="Google Shape;219;p2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0" name="Google Shape;220;p26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31151" t="31081" r="40926" b="18469"/>
          <a:stretch/>
        </p:blipFill>
        <p:spPr>
          <a:xfrm>
            <a:off x="762550" y="2634400"/>
            <a:ext cx="2233451" cy="18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 descr="A screenshot of a computer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 l="31020" t="33696" r="23394" b="5807"/>
          <a:stretch/>
        </p:blipFill>
        <p:spPr>
          <a:xfrm>
            <a:off x="5606450" y="2170412"/>
            <a:ext cx="2988901" cy="23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 descr="A screenshot of a computer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 l="31534" t="42756" r="16719" b="28024"/>
          <a:stretch/>
        </p:blipFill>
        <p:spPr>
          <a:xfrm>
            <a:off x="6101200" y="1017726"/>
            <a:ext cx="3042800" cy="10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/>
          <p:nvPr/>
        </p:nvSpPr>
        <p:spPr>
          <a:xfrm>
            <a:off x="6194450" y="1678575"/>
            <a:ext cx="1433400" cy="161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845127" y="3057236"/>
            <a:ext cx="677430" cy="121114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5697100" y="3941000"/>
            <a:ext cx="404100" cy="141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7258025" y="3821250"/>
            <a:ext cx="837600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3182800" y="1580625"/>
            <a:ext cx="895200" cy="357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8">
            <a:alphaModFix/>
          </a:blip>
          <a:srcRect l="2574" r="20103" b="58955"/>
          <a:stretch/>
        </p:blipFill>
        <p:spPr>
          <a:xfrm>
            <a:off x="383600" y="1017725"/>
            <a:ext cx="4839199" cy="1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/>
          <p:nvPr/>
        </p:nvSpPr>
        <p:spPr>
          <a:xfrm>
            <a:off x="1478950" y="1982920"/>
            <a:ext cx="1188000" cy="161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MFA Agent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Network Settings</a:t>
            </a:r>
            <a:endParaRPr sz="2200"/>
          </a:p>
        </p:txBody>
      </p:sp>
      <p:sp>
        <p:nvSpPr>
          <p:cNvPr id="239" name="Google Shape;23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cxnSp>
        <p:nvCxnSpPr>
          <p:cNvPr id="240" name="Google Shape;240;p2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1" name="Google Shape;241;p2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27"/>
          <p:cNvGraphicFramePr/>
          <p:nvPr/>
        </p:nvGraphicFramePr>
        <p:xfrm>
          <a:off x="406725" y="1365925"/>
          <a:ext cx="8330550" cy="2929512"/>
        </p:xfrm>
        <a:graphic>
          <a:graphicData uri="http://schemas.openxmlformats.org/drawingml/2006/table">
            <a:tbl>
              <a:tblPr>
                <a:noFill/>
                <a:tableStyleId>{D9D048A7-DF09-4D06-8713-BF211CBF74F3}</a:tableStyleId>
              </a:tblPr>
              <a:tblGrid>
                <a:gridCol w="41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Virtual Machine Function (Domain Controller/MFA Agent/IDR)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MFA Agent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Operating System (Windows/Linux)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Windows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Fully Qualified Domain Name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rsa4-local.com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IP Address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192.168.95.130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Gateway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192.168.95.2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 b="1">
                          <a:latin typeface="Lato"/>
                          <a:ea typeface="Lato"/>
                          <a:cs typeface="Lato"/>
                          <a:sym typeface="Lato"/>
                        </a:rPr>
                        <a:t>DNS</a:t>
                      </a:r>
                      <a:endParaRPr sz="1800"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Primary:192.168.95.128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latin typeface="Lato"/>
                          <a:ea typeface="Lato"/>
                          <a:cs typeface="Lato"/>
                          <a:sym typeface="Lato"/>
                        </a:rPr>
                        <a:t>Secondary:8.8.8.8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0800" marR="50800" marT="50800" marB="50800">
                    <a:lnL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3A3A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4" name="Google Shape;244;p2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MFA Agent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GPO </a:t>
            </a:r>
            <a:endParaRPr sz="2200"/>
          </a:p>
        </p:txBody>
      </p:sp>
      <p:sp>
        <p:nvSpPr>
          <p:cNvPr id="250" name="Google Shape;25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cxnSp>
        <p:nvCxnSpPr>
          <p:cNvPr id="251" name="Google Shape;251;p2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2" name="Google Shape;252;p28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 rotWithShape="1">
          <a:blip r:embed="rId5">
            <a:alphaModFix/>
          </a:blip>
          <a:srcRect l="1652" b="18844"/>
          <a:stretch/>
        </p:blipFill>
        <p:spPr>
          <a:xfrm>
            <a:off x="1924125" y="1235927"/>
            <a:ext cx="5295750" cy="29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2125750" y="1581150"/>
            <a:ext cx="1937700" cy="238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2125750" y="2676525"/>
            <a:ext cx="1937700" cy="1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MFA Agent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GPO </a:t>
            </a:r>
            <a:endParaRPr sz="2200"/>
          </a:p>
        </p:txBody>
      </p:sp>
      <p:sp>
        <p:nvSpPr>
          <p:cNvPr id="263" name="Google Shape;26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cxnSp>
        <p:nvCxnSpPr>
          <p:cNvPr id="264" name="Google Shape;264;p2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5" name="Google Shape;265;p2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4361" t="11716" r="1031" b="5247"/>
          <a:stretch/>
        </p:blipFill>
        <p:spPr>
          <a:xfrm>
            <a:off x="2227625" y="1272075"/>
            <a:ext cx="5075375" cy="3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9"/>
          <p:cNvSpPr/>
          <p:nvPr/>
        </p:nvSpPr>
        <p:spPr>
          <a:xfrm>
            <a:off x="2338325" y="1389925"/>
            <a:ext cx="1965600" cy="192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2358775" y="2781125"/>
            <a:ext cx="1945200" cy="12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2358775" y="3334150"/>
            <a:ext cx="1945200" cy="238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2348525" y="3987125"/>
            <a:ext cx="1945200" cy="12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Online Test</a:t>
            </a:r>
            <a:endParaRPr sz="2200"/>
          </a:p>
        </p:txBody>
      </p:sp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cxnSp>
        <p:nvCxnSpPr>
          <p:cNvPr id="279" name="Google Shape;279;p3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0" name="Google Shape;280;p3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682" t="2888" r="3242" b="2099"/>
          <a:stretch/>
        </p:blipFill>
        <p:spPr>
          <a:xfrm>
            <a:off x="2873925" y="1409937"/>
            <a:ext cx="3859275" cy="22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0" descr="A screenshot of a phone&#10;&#10;AI-generated content may be incorrect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3975" y="907263"/>
            <a:ext cx="2002210" cy="33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0" title="image2.png"/>
          <p:cNvPicPr preferRelativeResize="0"/>
          <p:nvPr/>
        </p:nvPicPr>
        <p:blipFill rotWithShape="1">
          <a:blip r:embed="rId7">
            <a:alphaModFix/>
          </a:blip>
          <a:srcRect l="6198" t="20125" r="59761" b="41073"/>
          <a:stretch/>
        </p:blipFill>
        <p:spPr>
          <a:xfrm>
            <a:off x="311700" y="1546975"/>
            <a:ext cx="2391450" cy="198672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/>
          <p:nvPr/>
        </p:nvSpPr>
        <p:spPr>
          <a:xfrm>
            <a:off x="950175" y="2721925"/>
            <a:ext cx="1193700" cy="16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4206712" y="2630900"/>
            <a:ext cx="1193700" cy="16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7308225" y="2359275"/>
            <a:ext cx="1193700" cy="16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Offline Test</a:t>
            </a:r>
            <a:endParaRPr sz="2200"/>
          </a:p>
        </p:txBody>
      </p:sp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6" name="Google Shape;296;p31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1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3781" t="3567" r="1673" b="1293"/>
          <a:stretch/>
        </p:blipFill>
        <p:spPr>
          <a:xfrm>
            <a:off x="2879825" y="1352987"/>
            <a:ext cx="3842074" cy="22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1" title="image3.png"/>
          <p:cNvPicPr preferRelativeResize="0"/>
          <p:nvPr/>
        </p:nvPicPr>
        <p:blipFill rotWithShape="1">
          <a:blip r:embed="rId6">
            <a:alphaModFix/>
          </a:blip>
          <a:srcRect l="5929" t="16638" r="63680" b="41376"/>
          <a:stretch/>
        </p:blipFill>
        <p:spPr>
          <a:xfrm>
            <a:off x="311700" y="1455675"/>
            <a:ext cx="2515274" cy="21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1" title="image3.png"/>
          <p:cNvPicPr preferRelativeResize="0"/>
          <p:nvPr/>
        </p:nvPicPr>
        <p:blipFill rotWithShape="1">
          <a:blip r:embed="rId6">
            <a:alphaModFix/>
          </a:blip>
          <a:srcRect l="36514" t="38095" r="43900" b="40759"/>
          <a:stretch/>
        </p:blipFill>
        <p:spPr>
          <a:xfrm>
            <a:off x="7029850" y="1978025"/>
            <a:ext cx="1612123" cy="104823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/>
          <p:nvPr/>
        </p:nvSpPr>
        <p:spPr>
          <a:xfrm>
            <a:off x="1020850" y="3334450"/>
            <a:ext cx="1193700" cy="16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"/>
          <p:cNvSpPr/>
          <p:nvPr/>
        </p:nvSpPr>
        <p:spPr>
          <a:xfrm>
            <a:off x="4138375" y="2654200"/>
            <a:ext cx="1094700" cy="108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Configure RADIUS Client - </a:t>
            </a:r>
            <a:r>
              <a:rPr lang="en-GB" sz="2200" b="1">
                <a:latin typeface="Cambria"/>
                <a:ea typeface="Cambria"/>
                <a:cs typeface="Cambria"/>
                <a:sym typeface="Cambria"/>
              </a:rPr>
              <a:t>on MFA Agent</a:t>
            </a:r>
            <a:endParaRPr sz="2200"/>
          </a:p>
        </p:txBody>
      </p:sp>
      <p:sp>
        <p:nvSpPr>
          <p:cNvPr id="309" name="Google Shape;30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cxnSp>
        <p:nvCxnSpPr>
          <p:cNvPr id="310" name="Google Shape;310;p3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1" name="Google Shape;311;p32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27104" t="15672" r="11390" b="6318"/>
          <a:stretch/>
        </p:blipFill>
        <p:spPr>
          <a:xfrm>
            <a:off x="482825" y="1059250"/>
            <a:ext cx="4652175" cy="25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2" descr="A screenshot of a computer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 l="611" t="10990" r="15643" b="51408"/>
          <a:stretch/>
        </p:blipFill>
        <p:spPr>
          <a:xfrm>
            <a:off x="755100" y="3755080"/>
            <a:ext cx="3572200" cy="6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2" descr="A screenshot of a computer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 l="28443" t="56530" r="34751" b="27688"/>
          <a:stretch/>
        </p:blipFill>
        <p:spPr>
          <a:xfrm>
            <a:off x="5001375" y="1343425"/>
            <a:ext cx="3274274" cy="6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2" descr="A screenshot of a computer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 r="47911"/>
          <a:stretch/>
        </p:blipFill>
        <p:spPr>
          <a:xfrm>
            <a:off x="5305000" y="2169888"/>
            <a:ext cx="2817475" cy="232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/>
          <p:nvPr/>
        </p:nvSpPr>
        <p:spPr>
          <a:xfrm>
            <a:off x="5049100" y="1635275"/>
            <a:ext cx="767100" cy="325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892025" y="4048800"/>
            <a:ext cx="895200" cy="284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583750" y="3245250"/>
            <a:ext cx="3858300" cy="177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5419975" y="3578075"/>
            <a:ext cx="2031600" cy="177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674450" y="2297900"/>
            <a:ext cx="767100" cy="177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>
            <a:spLocks noGrp="1"/>
          </p:cNvSpPr>
          <p:nvPr>
            <p:ph type="title"/>
          </p:nvPr>
        </p:nvSpPr>
        <p:spPr>
          <a:xfrm>
            <a:off x="311700" y="4664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8124"/>
              <a:buFont typeface="Arial"/>
              <a:buNone/>
            </a:pPr>
            <a:r>
              <a:rPr lang="en-GB" sz="3520" b="1">
                <a:latin typeface="Cambria"/>
                <a:ea typeface="Cambria"/>
                <a:cs typeface="Cambria"/>
                <a:sym typeface="Cambria"/>
              </a:rPr>
              <a:t>NTRADPing</a:t>
            </a:r>
            <a:endParaRPr sz="2200"/>
          </a:p>
        </p:txBody>
      </p:sp>
      <p:sp>
        <p:nvSpPr>
          <p:cNvPr id="328" name="Google Shape;3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cxnSp>
        <p:nvCxnSpPr>
          <p:cNvPr id="329" name="Google Shape;329;p3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0" name="Google Shape;330;p3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3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069" t="1827" r="2535" b="1488"/>
          <a:stretch/>
        </p:blipFill>
        <p:spPr>
          <a:xfrm>
            <a:off x="526675" y="1146375"/>
            <a:ext cx="4884525" cy="3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3" descr="A screenshot of a phone&#10;&#10;AI-generated content may be incorrect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500" y="748463"/>
            <a:ext cx="2103800" cy="36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/>
          <p:nvPr/>
        </p:nvSpPr>
        <p:spPr>
          <a:xfrm>
            <a:off x="7249125" y="4034450"/>
            <a:ext cx="944400" cy="284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2945750" y="3567275"/>
            <a:ext cx="1033800" cy="108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1349375" y="1382400"/>
            <a:ext cx="1533300" cy="160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1349375" y="1821275"/>
            <a:ext cx="993900" cy="160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1349575" y="2015075"/>
            <a:ext cx="993900" cy="160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1349475" y="2231450"/>
            <a:ext cx="993900" cy="13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cxnSp>
        <p:nvCxnSpPr>
          <p:cNvPr id="346" name="Google Shape;346;p3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7" name="Google Shape;347;p34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4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title"/>
          </p:nvPr>
        </p:nvSpPr>
        <p:spPr>
          <a:xfrm>
            <a:off x="311700" y="3445375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4500">
                <a:latin typeface="Cambria"/>
                <a:ea typeface="Cambria"/>
                <a:cs typeface="Cambria"/>
                <a:sym typeface="Cambria"/>
              </a:rPr>
              <a:t>3.	 App-Level Security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51" name="Google Shape;35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200" y="271725"/>
            <a:ext cx="5929799" cy="308922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What We Did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8" name="Google Shape;35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cxnSp>
        <p:nvCxnSpPr>
          <p:cNvPr id="359" name="Google Shape;359;p3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60" name="Google Shape;360;p3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>
            <a:spLocks noGrp="1"/>
          </p:cNvSpPr>
          <p:nvPr>
            <p:ph type="title"/>
          </p:nvPr>
        </p:nvSpPr>
        <p:spPr>
          <a:xfrm>
            <a:off x="311850" y="1157725"/>
            <a:ext cx="8520600" cy="3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Focused on securing the application layer using </a:t>
            </a:r>
            <a:r>
              <a:rPr lang="en-GB" sz="1400" b="1"/>
              <a:t>SAML-based authentication</a:t>
            </a:r>
            <a:r>
              <a:rPr lang="en-GB" sz="1400"/>
              <a:t>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Integrated SAML-enabled applications with </a:t>
            </a:r>
            <a:r>
              <a:rPr lang="en-GB" sz="1400" b="1"/>
              <a:t>RSA Cloud Authentication Service (CAS)</a:t>
            </a:r>
            <a:r>
              <a:rPr lang="en-GB" sz="1400"/>
              <a:t> as the </a:t>
            </a:r>
            <a:r>
              <a:rPr lang="en-GB" sz="1400" b="1"/>
              <a:t>Identity Provider (IdP)</a:t>
            </a:r>
            <a:r>
              <a:rPr lang="en-GB" sz="1400"/>
              <a:t>.</a:t>
            </a:r>
            <a:endParaRPr sz="1400"/>
          </a:p>
          <a:p>
            <a:pPr marL="457200" marR="3810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Implemented </a:t>
            </a:r>
            <a:r>
              <a:rPr lang="en-GB" sz="1400" b="1"/>
              <a:t>two authentication flows:</a:t>
            </a:r>
            <a:endParaRPr sz="1400" b="1"/>
          </a:p>
          <a:p>
            <a:pPr marL="914400" marR="381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-GB" sz="1400" b="1"/>
              <a:t>IdP-Initiated SSO:</a:t>
            </a:r>
            <a:br>
              <a:rPr lang="en-GB" sz="1400" b="1"/>
            </a:br>
            <a:r>
              <a:rPr lang="en-GB" sz="1400"/>
              <a:t> Starts when a user logs in to </a:t>
            </a:r>
            <a:r>
              <a:rPr lang="en-GB" sz="1400" b="1"/>
              <a:t>MyPage</a:t>
            </a:r>
            <a:r>
              <a:rPr lang="en-GB" sz="1400"/>
              <a:t> and launches an app from there.</a:t>
            </a:r>
            <a:br>
              <a:rPr lang="en-GB" sz="1400"/>
            </a:br>
            <a:endParaRPr sz="1400"/>
          </a:p>
          <a:p>
            <a:pPr marL="914400" marR="381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-GB" sz="1400" b="1"/>
              <a:t>SP-Initiated SSO:</a:t>
            </a:r>
            <a:br>
              <a:rPr lang="en-GB" sz="1400" b="1"/>
            </a:br>
            <a:r>
              <a:rPr lang="en-GB" sz="1400"/>
              <a:t> Starts when a user goes </a:t>
            </a:r>
            <a:r>
              <a:rPr lang="en-GB" sz="1400" b="1"/>
              <a:t>directly to the app</a:t>
            </a:r>
            <a:r>
              <a:rPr lang="en-GB" sz="1400"/>
              <a:t>, and gets redirected to the IdP (CAS) for authentication.</a:t>
            </a:r>
            <a:endParaRPr sz="1400"/>
          </a:p>
          <a:p>
            <a:pPr marL="9144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363" name="Google Shape;363;p3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SAML Access Policy</a:t>
            </a:r>
            <a:endParaRPr sz="2200" b="1"/>
          </a:p>
        </p:txBody>
      </p:sp>
      <p:sp>
        <p:nvSpPr>
          <p:cNvPr id="369" name="Google Shape;3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  <p:cxnSp>
        <p:nvCxnSpPr>
          <p:cNvPr id="370" name="Google Shape;370;p3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1" name="Google Shape;371;p36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6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8250" y="1751550"/>
            <a:ext cx="2784751" cy="20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/>
          <p:nvPr/>
        </p:nvSpPr>
        <p:spPr>
          <a:xfrm>
            <a:off x="958250" y="3443725"/>
            <a:ext cx="738000" cy="222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4650" y="1659276"/>
            <a:ext cx="2945225" cy="25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/>
          <p:nvPr/>
        </p:nvSpPr>
        <p:spPr>
          <a:xfrm>
            <a:off x="6590983" y="3644719"/>
            <a:ext cx="882300" cy="610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4784662" y="3946200"/>
            <a:ext cx="477600" cy="172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6"/>
          <p:cNvSpPr/>
          <p:nvPr/>
        </p:nvSpPr>
        <p:spPr>
          <a:xfrm>
            <a:off x="4784662" y="1902850"/>
            <a:ext cx="943200" cy="381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0" name="Google Shape;380;p36"/>
          <p:cNvSpPr txBox="1">
            <a:spLocks noGrp="1"/>
          </p:cNvSpPr>
          <p:nvPr>
            <p:ph type="title"/>
          </p:nvPr>
        </p:nvSpPr>
        <p:spPr>
          <a:xfrm>
            <a:off x="392750" y="1010325"/>
            <a:ext cx="8211000" cy="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Enforced </a:t>
            </a:r>
            <a:r>
              <a:rPr lang="en-GB" sz="1400" b="1"/>
              <a:t>step-up security</a:t>
            </a:r>
            <a:r>
              <a:rPr lang="en-GB" sz="1400"/>
              <a:t> using </a:t>
            </a:r>
            <a:r>
              <a:rPr lang="en-GB" sz="1400" b="1"/>
              <a:t>One-Time Passwords (OTP)</a:t>
            </a:r>
            <a:r>
              <a:rPr lang="en-GB" sz="1400"/>
              <a:t> using custom </a:t>
            </a:r>
            <a:r>
              <a:rPr lang="en-GB" sz="1400" b="1"/>
              <a:t>access policy</a:t>
            </a:r>
            <a:endParaRPr sz="242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Configuration Overview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6" name="Google Shape;38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  <p:cxnSp>
        <p:nvCxnSpPr>
          <p:cNvPr id="387" name="Google Shape;387;p3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8" name="Google Shape;388;p3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8583" y="1550200"/>
            <a:ext cx="5919341" cy="274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7"/>
          <p:cNvSpPr/>
          <p:nvPr/>
        </p:nvSpPr>
        <p:spPr>
          <a:xfrm>
            <a:off x="3199750" y="3206075"/>
            <a:ext cx="11835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3" name="Google Shape;393;p37"/>
          <p:cNvSpPr txBox="1">
            <a:spLocks noGrp="1"/>
          </p:cNvSpPr>
          <p:nvPr>
            <p:ph type="title"/>
          </p:nvPr>
        </p:nvSpPr>
        <p:spPr>
          <a:xfrm>
            <a:off x="392750" y="1010325"/>
            <a:ext cx="8211000" cy="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400"/>
              <a:t>Ensured the </a:t>
            </a:r>
            <a:r>
              <a:rPr lang="en-GB" sz="1400" b="1"/>
              <a:t>SAML responses were signed</a:t>
            </a:r>
            <a:r>
              <a:rPr lang="en-GB" sz="1400"/>
              <a:t> to maintain trust.</a:t>
            </a:r>
            <a:endParaRPr sz="272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Configuration Overview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9" name="Google Shape;39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  <p:cxnSp>
        <p:nvCxnSpPr>
          <p:cNvPr id="400" name="Google Shape;400;p3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1" name="Google Shape;401;p38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/>
          <p:cNvPicPr preferRelativeResize="0"/>
          <p:nvPr/>
        </p:nvPicPr>
        <p:blipFill rotWithShape="1">
          <a:blip r:embed="rId5">
            <a:alphaModFix/>
          </a:blip>
          <a:srcRect l="25416" t="48421" r="50000"/>
          <a:stretch/>
        </p:blipFill>
        <p:spPr>
          <a:xfrm>
            <a:off x="587800" y="1956425"/>
            <a:ext cx="2232725" cy="217387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8"/>
          <p:cNvSpPr/>
          <p:nvPr/>
        </p:nvSpPr>
        <p:spPr>
          <a:xfrm>
            <a:off x="787303" y="2590448"/>
            <a:ext cx="1129200" cy="24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8"/>
          <p:cNvSpPr/>
          <p:nvPr/>
        </p:nvSpPr>
        <p:spPr>
          <a:xfrm>
            <a:off x="882766" y="3171106"/>
            <a:ext cx="1640100" cy="496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6">
            <a:alphaModFix/>
          </a:blip>
          <a:srcRect l="27122" t="23453" r="11610"/>
          <a:stretch/>
        </p:blipFill>
        <p:spPr>
          <a:xfrm>
            <a:off x="5405720" y="925500"/>
            <a:ext cx="3517054" cy="20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/>
        </p:nvSpPr>
        <p:spPr>
          <a:xfrm>
            <a:off x="5489851" y="1835608"/>
            <a:ext cx="555600" cy="168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8"/>
          <p:cNvSpPr/>
          <p:nvPr/>
        </p:nvSpPr>
        <p:spPr>
          <a:xfrm>
            <a:off x="5489851" y="2206125"/>
            <a:ext cx="3305400" cy="311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7">
            <a:alphaModFix/>
          </a:blip>
          <a:srcRect t="42434" b="14810"/>
          <a:stretch/>
        </p:blipFill>
        <p:spPr>
          <a:xfrm>
            <a:off x="3129807" y="3338814"/>
            <a:ext cx="5815128" cy="78743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>
            <a:off x="8118329" y="3783591"/>
            <a:ext cx="674100" cy="201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192400" y="989000"/>
            <a:ext cx="5076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</a:rPr>
              <a:t>Established trust via </a:t>
            </a:r>
            <a:r>
              <a:rPr lang="en-GB" sz="1200" b="1">
                <a:solidFill>
                  <a:schemeClr val="dk1"/>
                </a:solidFill>
              </a:rPr>
              <a:t>metadata exchange</a:t>
            </a:r>
            <a:endParaRPr sz="130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Defined whether the app flow was IdP- or SP-initiated</a:t>
            </a:r>
            <a:endParaRPr sz="120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Set the Assertion Consumer Service (ACS) URL and SP Entity ID</a:t>
            </a:r>
            <a:endParaRPr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Configuration Overview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8" name="Google Shape;41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  <p:cxnSp>
        <p:nvCxnSpPr>
          <p:cNvPr id="419" name="Google Shape;419;p3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0" name="Google Shape;420;p3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005" y="1503025"/>
            <a:ext cx="6313983" cy="29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/>
          <p:nvPr/>
        </p:nvSpPr>
        <p:spPr>
          <a:xfrm>
            <a:off x="3244881" y="2868299"/>
            <a:ext cx="1840500" cy="345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9"/>
          <p:cNvSpPr/>
          <p:nvPr/>
        </p:nvSpPr>
        <p:spPr>
          <a:xfrm>
            <a:off x="2224692" y="3133494"/>
            <a:ext cx="785100" cy="249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6" name="Google Shape;426;p39"/>
          <p:cNvSpPr txBox="1">
            <a:spLocks noGrp="1"/>
          </p:cNvSpPr>
          <p:nvPr>
            <p:ph type="title"/>
          </p:nvPr>
        </p:nvSpPr>
        <p:spPr>
          <a:xfrm>
            <a:off x="392750" y="934125"/>
            <a:ext cx="8211000" cy="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GB" sz="1400"/>
              <a:t>Enabled </a:t>
            </a:r>
            <a:r>
              <a:rPr lang="en-GB" sz="1400" b="1"/>
              <a:t>OTP policy</a:t>
            </a:r>
            <a:r>
              <a:rPr lang="en-GB" sz="1400"/>
              <a:t> for step-up authentication</a:t>
            </a:r>
            <a:endParaRPr sz="302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IdP-Initiated Flow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2" name="Google Shape;43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cxnSp>
        <p:nvCxnSpPr>
          <p:cNvPr id="433" name="Google Shape;433;p4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34" name="Google Shape;434;p4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7" name="Google Shape;437;p40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457200" y="1408250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659125" y="1470650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0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1583050" y="1548113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0"/>
          <p:cNvSpPr txBox="1"/>
          <p:nvPr/>
        </p:nvSpPr>
        <p:spPr>
          <a:xfrm>
            <a:off x="725800" y="1384925"/>
            <a:ext cx="590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My Page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41" name="Google Shape;441;p40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20288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0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22307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0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3154675" y="1559775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 txBox="1"/>
          <p:nvPr/>
        </p:nvSpPr>
        <p:spPr>
          <a:xfrm>
            <a:off x="2245075" y="1498025"/>
            <a:ext cx="67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Auth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45" name="Google Shape;445;p40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3620450" y="1408250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3822375" y="1470650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0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4707250" y="1548113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3888975" y="1484975"/>
            <a:ext cx="59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App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51530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0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53549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0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6278875" y="1559775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5369275" y="1498025"/>
            <a:ext cx="67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OTP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67532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0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69551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0"/>
          <p:cNvSpPr txBox="1"/>
          <p:nvPr/>
        </p:nvSpPr>
        <p:spPr>
          <a:xfrm>
            <a:off x="6860100" y="1498025"/>
            <a:ext cx="895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Success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456" name="Google Shape;456;p40"/>
          <p:cNvSpPr txBox="1"/>
          <p:nvPr/>
        </p:nvSpPr>
        <p:spPr>
          <a:xfrm>
            <a:off x="421000" y="2665400"/>
            <a:ext cx="7258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 login to MyPage using my credentials.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 launch the protected app — immediately, I’m prompted to verify with OTP.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Once approved, I’m signed in — securely.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SP-Initiated Flow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2" name="Google Shape;46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cxnSp>
        <p:nvCxnSpPr>
          <p:cNvPr id="463" name="Google Shape;463;p4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4" name="Google Shape;464;p41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457200" y="1408250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1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659125" y="1470650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1583050" y="1548113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703825" y="1498025"/>
            <a:ext cx="59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App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20288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22307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1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3154675" y="1559775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1"/>
          <p:cNvSpPr txBox="1"/>
          <p:nvPr/>
        </p:nvSpPr>
        <p:spPr>
          <a:xfrm>
            <a:off x="2245075" y="1498025"/>
            <a:ext cx="67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CAS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75" name="Google Shape;475;p41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3620450" y="1408250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1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3822375" y="1470650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1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4707250" y="1548113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1"/>
          <p:cNvSpPr txBox="1"/>
          <p:nvPr/>
        </p:nvSpPr>
        <p:spPr>
          <a:xfrm>
            <a:off x="3888975" y="1484975"/>
            <a:ext cx="59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Auth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79" name="Google Shape;479;p41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51530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53549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1"/>
          <p:cNvPicPr preferRelativeResize="0"/>
          <p:nvPr/>
        </p:nvPicPr>
        <p:blipFill rotWithShape="1">
          <a:blip r:embed="rId5">
            <a:alphaModFix/>
          </a:blip>
          <a:srcRect l="11528" t="5069" r="82966" b="87022"/>
          <a:stretch/>
        </p:blipFill>
        <p:spPr>
          <a:xfrm>
            <a:off x="6278875" y="1559775"/>
            <a:ext cx="504824" cy="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1"/>
          <p:cNvSpPr txBox="1"/>
          <p:nvPr/>
        </p:nvSpPr>
        <p:spPr>
          <a:xfrm>
            <a:off x="5369275" y="1498025"/>
            <a:ext cx="67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OTP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83" name="Google Shape;483;p41"/>
          <p:cNvPicPr preferRelativeResize="0"/>
          <p:nvPr/>
        </p:nvPicPr>
        <p:blipFill rotWithShape="1">
          <a:blip r:embed="rId5">
            <a:alphaModFix/>
          </a:blip>
          <a:srcRect l="-330" r="88052" b="82656"/>
          <a:stretch/>
        </p:blipFill>
        <p:spPr>
          <a:xfrm>
            <a:off x="6753225" y="1419913"/>
            <a:ext cx="1125849" cy="6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1"/>
          <p:cNvPicPr preferRelativeResize="0"/>
          <p:nvPr/>
        </p:nvPicPr>
        <p:blipFill rotWithShape="1">
          <a:blip r:embed="rId5">
            <a:alphaModFix/>
          </a:blip>
          <a:srcRect l="55571" t="60468" r="40896" b="32917"/>
          <a:stretch/>
        </p:blipFill>
        <p:spPr>
          <a:xfrm>
            <a:off x="6955150" y="1482313"/>
            <a:ext cx="676274" cy="4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1"/>
          <p:cNvSpPr txBox="1"/>
          <p:nvPr/>
        </p:nvSpPr>
        <p:spPr>
          <a:xfrm>
            <a:off x="6860100" y="1498025"/>
            <a:ext cx="895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Success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486" name="Google Shape;486;p41"/>
          <p:cNvSpPr txBox="1"/>
          <p:nvPr/>
        </p:nvSpPr>
        <p:spPr>
          <a:xfrm>
            <a:off x="421000" y="2589200"/>
            <a:ext cx="72582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This time, I go directly to the app URL.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It redirects me to CAS.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 login and pass the OTP challenge.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I’m sent back to the app, now authenticated.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Login and test with MyPage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2" name="Google Shape;4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cxnSp>
        <p:nvCxnSpPr>
          <p:cNvPr id="493" name="Google Shape;493;p4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94" name="Google Shape;494;p42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2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50" y="1327500"/>
            <a:ext cx="5613099" cy="27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2"/>
          <p:cNvSpPr/>
          <p:nvPr/>
        </p:nvSpPr>
        <p:spPr>
          <a:xfrm>
            <a:off x="1156496" y="2846803"/>
            <a:ext cx="983400" cy="195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8" name="Google Shape;49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9625" y="939750"/>
            <a:ext cx="1752825" cy="347842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2"/>
          <p:cNvSpPr/>
          <p:nvPr/>
        </p:nvSpPr>
        <p:spPr>
          <a:xfrm>
            <a:off x="7144838" y="1767958"/>
            <a:ext cx="902400" cy="178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Login and test with URL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6" name="Google Shape;50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cxnSp>
        <p:nvCxnSpPr>
          <p:cNvPr id="507" name="Google Shape;507;p4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8" name="Google Shape;508;p4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3"/>
          <p:cNvPicPr preferRelativeResize="0"/>
          <p:nvPr/>
        </p:nvPicPr>
        <p:blipFill rotWithShape="1">
          <a:blip r:embed="rId5">
            <a:alphaModFix/>
          </a:blip>
          <a:srcRect r="46015"/>
          <a:stretch/>
        </p:blipFill>
        <p:spPr>
          <a:xfrm>
            <a:off x="683025" y="1227225"/>
            <a:ext cx="3175900" cy="305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3"/>
          <p:cNvPicPr preferRelativeResize="0"/>
          <p:nvPr/>
        </p:nvPicPr>
        <p:blipFill rotWithShape="1">
          <a:blip r:embed="rId6">
            <a:alphaModFix/>
          </a:blip>
          <a:srcRect r="45758"/>
          <a:stretch/>
        </p:blipFill>
        <p:spPr>
          <a:xfrm>
            <a:off x="4915675" y="1215962"/>
            <a:ext cx="3175900" cy="307838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3"/>
          <p:cNvSpPr/>
          <p:nvPr/>
        </p:nvSpPr>
        <p:spPr>
          <a:xfrm>
            <a:off x="1361771" y="2846803"/>
            <a:ext cx="983400" cy="195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1361771" y="3181653"/>
            <a:ext cx="983400" cy="195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5612596" y="2846803"/>
            <a:ext cx="983400" cy="195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Linking Back to Previous Phases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1" name="Google Shape;52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  <p:cxnSp>
        <p:nvCxnSpPr>
          <p:cNvPr id="522" name="Google Shape;522;p4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3" name="Google Shape;523;p44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4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4"/>
          <p:cNvSpPr txBox="1">
            <a:spLocks noGrp="1"/>
          </p:cNvSpPr>
          <p:nvPr>
            <p:ph type="title"/>
          </p:nvPr>
        </p:nvSpPr>
        <p:spPr>
          <a:xfrm>
            <a:off x="311850" y="1233925"/>
            <a:ext cx="8520600" cy="17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 b="1"/>
              <a:t>This phase builds directly on what we’ve done before:</a:t>
            </a:r>
            <a:endParaRPr sz="1400" b="1"/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◆"/>
            </a:pPr>
            <a:r>
              <a:rPr lang="en-GB" sz="1300"/>
              <a:t>Our users are already synced from Active Directory</a:t>
            </a:r>
            <a:endParaRPr sz="1300"/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◆"/>
            </a:pPr>
            <a:r>
              <a:rPr lang="en-GB" sz="1300"/>
              <a:t>They’re protected at the endpoint level with MFA</a:t>
            </a:r>
            <a:endParaRPr sz="1300"/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◆"/>
            </a:pPr>
            <a:r>
              <a:rPr lang="en-GB" sz="1300"/>
              <a:t>And now, they’re securely accessing SaaS apps too.</a:t>
            </a:r>
            <a:endParaRPr sz="1300"/>
          </a:p>
          <a:p>
            <a:pPr marL="9144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526" name="Google Shape;526;p4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  <p:cxnSp>
        <p:nvCxnSpPr>
          <p:cNvPr id="533" name="Google Shape;533;p4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34" name="Google Shape;534;p4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SecurID Solution Demo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7" name="Google Shape;537;p45"/>
          <p:cNvSpPr txBox="1"/>
          <p:nvPr/>
        </p:nvSpPr>
        <p:spPr>
          <a:xfrm>
            <a:off x="2901850" y="3781375"/>
            <a:ext cx="3177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538" name="Google Shape;538;p45"/>
          <p:cNvSpPr txBox="1">
            <a:spLocks noGrp="1"/>
          </p:cNvSpPr>
          <p:nvPr>
            <p:ph type="title"/>
          </p:nvPr>
        </p:nvSpPr>
        <p:spPr>
          <a:xfrm>
            <a:off x="311700" y="3445375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4500">
                <a:latin typeface="Cambria"/>
                <a:ea typeface="Cambria"/>
                <a:cs typeface="Cambria"/>
                <a:sym typeface="Cambria"/>
              </a:rPr>
              <a:t>4.	 Stress Testing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39" name="Google Shape;539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6050" y="359300"/>
            <a:ext cx="5929198" cy="308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5" name="Google Shape;54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cxnSp>
        <p:nvCxnSpPr>
          <p:cNvPr id="546" name="Google Shape;546;p4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7" name="Google Shape;547;p46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6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6"/>
          <p:cNvPicPr preferRelativeResize="0"/>
          <p:nvPr/>
        </p:nvPicPr>
        <p:blipFill rotWithShape="1">
          <a:blip r:embed="rId5">
            <a:alphaModFix/>
          </a:blip>
          <a:srcRect l="-329" r="329"/>
          <a:stretch/>
        </p:blipFill>
        <p:spPr>
          <a:xfrm>
            <a:off x="0" y="1103450"/>
            <a:ext cx="9170201" cy="360017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IDR RADIUS Test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6" name="Google Shape;55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cxnSp>
        <p:nvCxnSpPr>
          <p:cNvPr id="557" name="Google Shape;557;p4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58" name="Google Shape;558;p4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25" y="1207375"/>
            <a:ext cx="9143998" cy="340974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8"/>
          <p:cNvSpPr txBox="1">
            <a:spLocks noGrp="1"/>
          </p:cNvSpPr>
          <p:nvPr>
            <p:ph type="title"/>
          </p:nvPr>
        </p:nvSpPr>
        <p:spPr>
          <a:xfrm>
            <a:off x="162125" y="1301000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6000">
                <a:latin typeface="Cambria"/>
                <a:ea typeface="Cambria"/>
                <a:cs typeface="Cambria"/>
                <a:sym typeface="Cambria"/>
              </a:rPr>
              <a:t>Conclusion &amp; Recommendations</a:t>
            </a:r>
            <a:endParaRPr sz="6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7" name="Google Shape;56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cxnSp>
        <p:nvCxnSpPr>
          <p:cNvPr id="568" name="Google Shape;568;p4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69" name="Google Shape;569;p48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8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CAS Rest Api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7" name="Google Shape;577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  <p:cxnSp>
        <p:nvCxnSpPr>
          <p:cNvPr id="578" name="Google Shape;578;p4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9" name="Google Shape;579;p4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9"/>
          <p:cNvPicPr preferRelativeResize="0"/>
          <p:nvPr/>
        </p:nvPicPr>
        <p:blipFill rotWithShape="1">
          <a:blip r:embed="rId5">
            <a:alphaModFix/>
          </a:blip>
          <a:srcRect l="25628" t="9657"/>
          <a:stretch/>
        </p:blipFill>
        <p:spPr>
          <a:xfrm>
            <a:off x="197500" y="965000"/>
            <a:ext cx="8589775" cy="232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9"/>
          <p:cNvSpPr txBox="1"/>
          <p:nvPr/>
        </p:nvSpPr>
        <p:spPr>
          <a:xfrm>
            <a:off x="81600" y="3465650"/>
            <a:ext cx="90624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As shown here the test was successfully completed with the required number of requests (10req./sec for 2mins).</a:t>
            </a:r>
            <a:endParaRPr sz="1500"/>
          </a:p>
          <a:p>
            <a:pPr marL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There were no error and the average response time was 1.5 sec</a:t>
            </a:r>
            <a:endParaRPr sz="1500"/>
          </a:p>
        </p:txBody>
      </p:sp>
      <p:sp>
        <p:nvSpPr>
          <p:cNvPr id="583" name="Google Shape;583;p49"/>
          <p:cNvSpPr/>
          <p:nvPr/>
        </p:nvSpPr>
        <p:spPr>
          <a:xfrm>
            <a:off x="7172500" y="965000"/>
            <a:ext cx="7050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9"/>
          <p:cNvSpPr/>
          <p:nvPr/>
        </p:nvSpPr>
        <p:spPr>
          <a:xfrm>
            <a:off x="1007500" y="2740675"/>
            <a:ext cx="8250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9"/>
          <p:cNvSpPr/>
          <p:nvPr/>
        </p:nvSpPr>
        <p:spPr>
          <a:xfrm>
            <a:off x="1967500" y="274067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9"/>
          <p:cNvSpPr/>
          <p:nvPr/>
        </p:nvSpPr>
        <p:spPr>
          <a:xfrm>
            <a:off x="5059900" y="274067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9"/>
          <p:cNvSpPr/>
          <p:nvPr/>
        </p:nvSpPr>
        <p:spPr>
          <a:xfrm>
            <a:off x="5819800" y="274067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CAS Rest Api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4" name="Google Shape;594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  <p:cxnSp>
        <p:nvCxnSpPr>
          <p:cNvPr id="595" name="Google Shape;595;p5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6" name="Google Shape;596;p5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0" descr="A screenshot of a comput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24637" t="8692" r="37746"/>
          <a:stretch/>
        </p:blipFill>
        <p:spPr>
          <a:xfrm>
            <a:off x="92500" y="898512"/>
            <a:ext cx="2459999" cy="35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0" descr="A screenshot of a computer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 l="20172"/>
          <a:stretch/>
        </p:blipFill>
        <p:spPr>
          <a:xfrm>
            <a:off x="2628700" y="915950"/>
            <a:ext cx="6506150" cy="28950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0"/>
          <p:cNvSpPr/>
          <p:nvPr/>
        </p:nvSpPr>
        <p:spPr>
          <a:xfrm>
            <a:off x="6529900" y="1848175"/>
            <a:ext cx="548700" cy="121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50"/>
          <p:cNvSpPr/>
          <p:nvPr/>
        </p:nvSpPr>
        <p:spPr>
          <a:xfrm>
            <a:off x="8110431" y="1848175"/>
            <a:ext cx="832200" cy="121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50"/>
          <p:cNvSpPr/>
          <p:nvPr/>
        </p:nvSpPr>
        <p:spPr>
          <a:xfrm>
            <a:off x="3340000" y="2112475"/>
            <a:ext cx="1155000" cy="121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50"/>
          <p:cNvSpPr txBox="1"/>
          <p:nvPr/>
        </p:nvSpPr>
        <p:spPr>
          <a:xfrm>
            <a:off x="2552500" y="3960075"/>
            <a:ext cx="67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Every request was a success with </a:t>
            </a:r>
            <a:r>
              <a:rPr lang="en-GB" sz="1200" b="1">
                <a:solidFill>
                  <a:schemeClr val="dk1"/>
                </a:solidFill>
              </a:rPr>
              <a:t>Credentials verified but waiting on Challenge completion</a:t>
            </a:r>
            <a:r>
              <a:rPr lang="en-GB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(This is due to the Access policy requiring step up authentication)</a:t>
            </a:r>
            <a:endParaRPr sz="1500"/>
          </a:p>
        </p:txBody>
      </p:sp>
      <p:sp>
        <p:nvSpPr>
          <p:cNvPr id="604" name="Google Shape;604;p5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700" y="829875"/>
            <a:ext cx="6181301" cy="37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CAS Rest Api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1" name="Google Shape;61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  <p:cxnSp>
        <p:nvCxnSpPr>
          <p:cNvPr id="612" name="Google Shape;612;p5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3" name="Google Shape;613;p51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1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1"/>
          <p:cNvSpPr txBox="1"/>
          <p:nvPr/>
        </p:nvSpPr>
        <p:spPr>
          <a:xfrm>
            <a:off x="164900" y="1246325"/>
            <a:ext cx="27978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  <a:endParaRPr sz="1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Two Mid-Test Spikes (~5,000 ms and ~3,000ms)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·</a:t>
            </a:r>
            <a:r>
              <a:rPr lang="en-GB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suggests the server might have been </a:t>
            </a: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overloaded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suffered from </a:t>
            </a: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bottleneck (e.g., CPU/DB bottleneck)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Rapid Recovery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·</a:t>
            </a:r>
            <a:r>
              <a:rPr lang="en-GB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Indicates that the system recovered after congestion.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Stabilization at ~1,000 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6" name="Google Shape;616;p51"/>
          <p:cNvCxnSpPr/>
          <p:nvPr/>
        </p:nvCxnSpPr>
        <p:spPr>
          <a:xfrm>
            <a:off x="3167500" y="1550000"/>
            <a:ext cx="1177500" cy="7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7" name="Google Shape;617;p51"/>
          <p:cNvCxnSpPr/>
          <p:nvPr/>
        </p:nvCxnSpPr>
        <p:spPr>
          <a:xfrm>
            <a:off x="3152500" y="2676200"/>
            <a:ext cx="4470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18" name="Google Shape;618;p5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52"/>
          <p:cNvPicPr preferRelativeResize="0"/>
          <p:nvPr/>
        </p:nvPicPr>
        <p:blipFill rotWithShape="1">
          <a:blip r:embed="rId3">
            <a:alphaModFix/>
          </a:blip>
          <a:srcRect l="28124" t="13569"/>
          <a:stretch/>
        </p:blipFill>
        <p:spPr>
          <a:xfrm>
            <a:off x="588850" y="965000"/>
            <a:ext cx="7824800" cy="26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IDR RADIUS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5" name="Google Shape;625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  <p:cxnSp>
        <p:nvCxnSpPr>
          <p:cNvPr id="626" name="Google Shape;626;p5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7" name="Google Shape;627;p52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2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2"/>
          <p:cNvSpPr txBox="1"/>
          <p:nvPr/>
        </p:nvSpPr>
        <p:spPr>
          <a:xfrm>
            <a:off x="0" y="3713525"/>
            <a:ext cx="9242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As shown here the test was successfully completed with the required number of requests (10 req./sec for 2 mins)</a:t>
            </a:r>
            <a:endParaRPr/>
          </a:p>
          <a:p>
            <a:pPr marL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There were no error and the average response time was 9.3 sec which was much higher than that of CAS (1.5 sec)</a:t>
            </a:r>
            <a:endParaRPr/>
          </a:p>
        </p:txBody>
      </p:sp>
      <p:sp>
        <p:nvSpPr>
          <p:cNvPr id="630" name="Google Shape;630;p52"/>
          <p:cNvSpPr/>
          <p:nvPr/>
        </p:nvSpPr>
        <p:spPr>
          <a:xfrm>
            <a:off x="6437200" y="1017725"/>
            <a:ext cx="8250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52"/>
          <p:cNvSpPr/>
          <p:nvPr/>
        </p:nvSpPr>
        <p:spPr>
          <a:xfrm>
            <a:off x="1422925" y="2848125"/>
            <a:ext cx="6489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2"/>
          <p:cNvSpPr/>
          <p:nvPr/>
        </p:nvSpPr>
        <p:spPr>
          <a:xfrm>
            <a:off x="2139425" y="284812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52"/>
          <p:cNvSpPr/>
          <p:nvPr/>
        </p:nvSpPr>
        <p:spPr>
          <a:xfrm>
            <a:off x="4955250" y="284812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5677300" y="2848125"/>
            <a:ext cx="617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5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IDR RADIUS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1" name="Google Shape;64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  <p:cxnSp>
        <p:nvCxnSpPr>
          <p:cNvPr id="642" name="Google Shape;642;p5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3" name="Google Shape;643;p5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3"/>
          <p:cNvSpPr txBox="1"/>
          <p:nvPr/>
        </p:nvSpPr>
        <p:spPr>
          <a:xfrm>
            <a:off x="311700" y="1692300"/>
            <a:ext cx="4285200" cy="2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Every request was a success with a response msg of</a:t>
            </a:r>
            <a:r>
              <a:rPr lang="en-GB" sz="1800" b="1">
                <a:solidFill>
                  <a:schemeClr val="dk1"/>
                </a:solidFill>
              </a:rPr>
              <a:t> Access-Accept</a:t>
            </a:r>
            <a:r>
              <a:rPr lang="en-GB" sz="1800">
                <a:solidFill>
                  <a:schemeClr val="dk1"/>
                </a:solidFill>
              </a:rPr>
              <a:t>. (This is due to changing the Access policy to allow users to authenticate without step up authentication)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646" name="Google Shape;646;p53"/>
          <p:cNvPicPr preferRelativeResize="0"/>
          <p:nvPr/>
        </p:nvPicPr>
        <p:blipFill rotWithShape="1">
          <a:blip r:embed="rId5">
            <a:alphaModFix/>
          </a:blip>
          <a:srcRect l="26264" t="11251" r="25799" b="7275"/>
          <a:stretch/>
        </p:blipFill>
        <p:spPr>
          <a:xfrm>
            <a:off x="5902550" y="506238"/>
            <a:ext cx="2891750" cy="4131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3"/>
          <p:cNvSpPr/>
          <p:nvPr/>
        </p:nvSpPr>
        <p:spPr>
          <a:xfrm>
            <a:off x="7290400" y="3386400"/>
            <a:ext cx="1137600" cy="15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5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4"/>
          <p:cNvPicPr preferRelativeResize="0"/>
          <p:nvPr/>
        </p:nvPicPr>
        <p:blipFill rotWithShape="1">
          <a:blip r:embed="rId3">
            <a:alphaModFix/>
          </a:blip>
          <a:srcRect t="-2270" b="2269"/>
          <a:stretch/>
        </p:blipFill>
        <p:spPr>
          <a:xfrm>
            <a:off x="2685600" y="929175"/>
            <a:ext cx="6458401" cy="335674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IDR RADIUS Test Results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5" name="Google Shape;65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  <p:cxnSp>
        <p:nvCxnSpPr>
          <p:cNvPr id="656" name="Google Shape;656;p5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7" name="Google Shape;657;p54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4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4"/>
          <p:cNvSpPr txBox="1"/>
          <p:nvPr/>
        </p:nvSpPr>
        <p:spPr>
          <a:xfrm>
            <a:off x="133500" y="1140075"/>
            <a:ext cx="25521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  <a:endParaRPr sz="1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Steady Increase in Response Time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</a:rPr>
              <a:t>·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 the system is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functionally resilient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though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optimal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Possible Bottlenecks or Resource limitation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</a:rPr>
              <a:t>·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upward trend suggests that either the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IDR is becoming overloaded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there is a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limitation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(CPU, memory, or other VM capabilities)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Performance Degradation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0" name="Google Shape;660;p54"/>
          <p:cNvCxnSpPr/>
          <p:nvPr/>
        </p:nvCxnSpPr>
        <p:spPr>
          <a:xfrm rot="10800000" flipH="1">
            <a:off x="3043450" y="1794113"/>
            <a:ext cx="6025800" cy="168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1" name="Google Shape;661;p54"/>
          <p:cNvSpPr txBox="1"/>
          <p:nvPr/>
        </p:nvSpPr>
        <p:spPr>
          <a:xfrm>
            <a:off x="-37500" y="4341375"/>
            <a:ext cx="845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·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performance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stabilize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time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could lead to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timeouts or failed authentications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larger number of requests.</a:t>
            </a:r>
            <a:endParaRPr/>
          </a:p>
        </p:txBody>
      </p:sp>
      <p:sp>
        <p:nvSpPr>
          <p:cNvPr id="662" name="Google Shape;662;p5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mbria"/>
                <a:ea typeface="Cambria"/>
                <a:cs typeface="Cambria"/>
                <a:sym typeface="Cambria"/>
              </a:rPr>
              <a:t>Recommendations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8" name="Google Shape;66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  <p:cxnSp>
        <p:nvCxnSpPr>
          <p:cNvPr id="669" name="Google Shape;669;p5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0" name="Google Shape;670;p5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55"/>
          <p:cNvSpPr txBox="1"/>
          <p:nvPr/>
        </p:nvSpPr>
        <p:spPr>
          <a:xfrm>
            <a:off x="517650" y="1303575"/>
            <a:ext cx="81087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69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</a:t>
            </a: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utilization</a:t>
            </a: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IDR during both types of testing (CPU/memory/thread stats) this can be done by varying the requests/sec 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Tune </a:t>
            </a: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configurations</a:t>
            </a: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could better simulate the required </a:t>
            </a: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requests/sec.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Hosting the IDR on </a:t>
            </a: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server,</a:t>
            </a: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could produce better results achieving </a:t>
            </a: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response times</a:t>
            </a: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5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  <p:cxnSp>
        <p:nvCxnSpPr>
          <p:cNvPr id="679" name="Google Shape;679;p5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0" name="Google Shape;680;p56" title="500px-GUC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56" title="RSA_Security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" name="Mission complete">
            <a:hlinkClick r:id="" action="ppaction://media"/>
            <a:extLst>
              <a:ext uri="{FF2B5EF4-FFF2-40B4-BE49-F238E27FC236}">
                <a16:creationId xmlns:a16="http://schemas.microsoft.com/office/drawing/2014/main" id="{E891E027-1928-65F0-2888-6AFB595874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6101" y="527648"/>
            <a:ext cx="7623515" cy="4288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  <p:sp>
        <p:nvSpPr>
          <p:cNvPr id="689" name="Google Shape;689;p57"/>
          <p:cNvSpPr txBox="1"/>
          <p:nvPr/>
        </p:nvSpPr>
        <p:spPr>
          <a:xfrm>
            <a:off x="0" y="1280950"/>
            <a:ext cx="9144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>
                <a:solidFill>
                  <a:srgbClr val="222222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Thank You </a:t>
            </a:r>
            <a:endParaRPr sz="6000" b="1">
              <a:solidFill>
                <a:srgbClr val="222222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>
                <a:solidFill>
                  <a:srgbClr val="222222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Any Question !</a:t>
            </a:r>
            <a:endParaRPr sz="6000" b="1">
              <a:solidFill>
                <a:srgbClr val="222222"/>
              </a:solidFill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90" name="Google Shape;690;p5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1" name="Google Shape;691;p5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7"/>
          <p:cNvSpPr txBox="1"/>
          <p:nvPr/>
        </p:nvSpPr>
        <p:spPr>
          <a:xfrm>
            <a:off x="7231673" y="4301950"/>
            <a:ext cx="1912327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RSA - GROUP 4</a:t>
            </a:r>
            <a:endParaRPr sz="2000" b="1" dirty="0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694" name="Google Shape;694;p5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8"/>
          <p:cNvSpPr txBox="1">
            <a:spLocks noGrp="1"/>
          </p:cNvSpPr>
          <p:nvPr>
            <p:ph type="title"/>
          </p:nvPr>
        </p:nvSpPr>
        <p:spPr>
          <a:xfrm>
            <a:off x="2349300" y="1871975"/>
            <a:ext cx="456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EXTRA SLIDES FOR QUESTIONS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  <p:cxnSp>
        <p:nvCxnSpPr>
          <p:cNvPr id="701" name="Google Shape;701;p5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02" name="Google Shape;702;p58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8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5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0" name="Google Shape;71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  <p:cxnSp>
        <p:nvCxnSpPr>
          <p:cNvPr id="711" name="Google Shape;711;p5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2" name="Google Shape;712;p5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" y="1163875"/>
            <a:ext cx="9240098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1" name="Google Shape;721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  <p:cxnSp>
        <p:nvCxnSpPr>
          <p:cNvPr id="722" name="Google Shape;722;p6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3" name="Google Shape;723;p6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6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" y="1163875"/>
            <a:ext cx="9240098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0"/>
          <p:cNvSpPr/>
          <p:nvPr/>
        </p:nvSpPr>
        <p:spPr>
          <a:xfrm>
            <a:off x="1442500" y="1017725"/>
            <a:ext cx="1605000" cy="1822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Thread Group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3" name="Google Shape;733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49</a:t>
            </a:fld>
            <a:endParaRPr/>
          </a:p>
        </p:txBody>
      </p:sp>
      <p:cxnSp>
        <p:nvCxnSpPr>
          <p:cNvPr id="734" name="Google Shape;734;p6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61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61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61"/>
          <p:cNvPicPr preferRelativeResize="0"/>
          <p:nvPr/>
        </p:nvPicPr>
        <p:blipFill rotWithShape="1">
          <a:blip r:embed="rId5">
            <a:alphaModFix/>
          </a:blip>
          <a:srcRect l="25616" t="7149" r="26787" b="30522"/>
          <a:stretch/>
        </p:blipFill>
        <p:spPr>
          <a:xfrm>
            <a:off x="4669304" y="967150"/>
            <a:ext cx="3982999" cy="29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61"/>
          <p:cNvSpPr txBox="1"/>
          <p:nvPr/>
        </p:nvSpPr>
        <p:spPr>
          <a:xfrm>
            <a:off x="265050" y="1973663"/>
            <a:ext cx="3337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Number of Threads  (users): 1200 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Ramp-Up Period: 120 sec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Loop Count: 1 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Duration: 120 sec</a:t>
            </a:r>
            <a:endParaRPr sz="1300"/>
          </a:p>
        </p:txBody>
      </p:sp>
      <p:sp>
        <p:nvSpPr>
          <p:cNvPr id="739" name="Google Shape;739;p61"/>
          <p:cNvSpPr/>
          <p:nvPr/>
        </p:nvSpPr>
        <p:spPr>
          <a:xfrm>
            <a:off x="4772500" y="2162225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61"/>
          <p:cNvSpPr/>
          <p:nvPr/>
        </p:nvSpPr>
        <p:spPr>
          <a:xfrm>
            <a:off x="4772500" y="2389613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61"/>
          <p:cNvSpPr/>
          <p:nvPr/>
        </p:nvSpPr>
        <p:spPr>
          <a:xfrm>
            <a:off x="4772500" y="2617025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61"/>
          <p:cNvSpPr/>
          <p:nvPr/>
        </p:nvSpPr>
        <p:spPr>
          <a:xfrm>
            <a:off x="4772500" y="3369425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61"/>
          <p:cNvSpPr/>
          <p:nvPr/>
        </p:nvSpPr>
        <p:spPr>
          <a:xfrm>
            <a:off x="4772500" y="3164225"/>
            <a:ext cx="10338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6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0" name="Google Shape;75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  <p:cxnSp>
        <p:nvCxnSpPr>
          <p:cNvPr id="751" name="Google Shape;751;p6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52" name="Google Shape;752;p62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2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" y="1163875"/>
            <a:ext cx="9240098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/>
          <p:nvPr/>
        </p:nvSpPr>
        <p:spPr>
          <a:xfrm>
            <a:off x="3385000" y="1111375"/>
            <a:ext cx="1402500" cy="1781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6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3"/>
          <p:cNvSpPr txBox="1">
            <a:spLocks noGrp="1"/>
          </p:cNvSpPr>
          <p:nvPr>
            <p:ph type="title"/>
          </p:nvPr>
        </p:nvSpPr>
        <p:spPr>
          <a:xfrm>
            <a:off x="311700" y="3936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Sampler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2" name="Google Shape;762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  <p:cxnSp>
        <p:nvCxnSpPr>
          <p:cNvPr id="763" name="Google Shape;763;p6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64" name="Google Shape;764;p6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3"/>
          <p:cNvSpPr txBox="1"/>
          <p:nvPr/>
        </p:nvSpPr>
        <p:spPr>
          <a:xfrm>
            <a:off x="0" y="2944975"/>
            <a:ext cx="3782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Server Name or IP: (la4.auth-demo.secureid.com)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Protocol: https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Path: /mfa/v1_1/authn/initialize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Method: POST 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pic>
        <p:nvPicPr>
          <p:cNvPr id="767" name="Google Shape;767;p63"/>
          <p:cNvPicPr preferRelativeResize="0"/>
          <p:nvPr/>
        </p:nvPicPr>
        <p:blipFill rotWithShape="1">
          <a:blip r:embed="rId5">
            <a:alphaModFix/>
          </a:blip>
          <a:srcRect t="-1680" b="58923"/>
          <a:stretch/>
        </p:blipFill>
        <p:spPr>
          <a:xfrm>
            <a:off x="841650" y="1000775"/>
            <a:ext cx="6903550" cy="17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3"/>
          <p:cNvSpPr/>
          <p:nvPr/>
        </p:nvSpPr>
        <p:spPr>
          <a:xfrm>
            <a:off x="2969200" y="2027475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63"/>
          <p:cNvSpPr/>
          <p:nvPr/>
        </p:nvSpPr>
        <p:spPr>
          <a:xfrm>
            <a:off x="6279100" y="2027475"/>
            <a:ext cx="8376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63"/>
          <p:cNvSpPr/>
          <p:nvPr/>
        </p:nvSpPr>
        <p:spPr>
          <a:xfrm>
            <a:off x="1696600" y="2337375"/>
            <a:ext cx="160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63"/>
          <p:cNvSpPr/>
          <p:nvPr/>
        </p:nvSpPr>
        <p:spPr>
          <a:xfrm>
            <a:off x="941500" y="2027475"/>
            <a:ext cx="10338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63"/>
          <p:cNvSpPr/>
          <p:nvPr/>
        </p:nvSpPr>
        <p:spPr>
          <a:xfrm>
            <a:off x="923850" y="2337375"/>
            <a:ext cx="5487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6">
            <a:alphaModFix/>
          </a:blip>
          <a:srcRect l="-569" r="40589" b="61470"/>
          <a:stretch/>
        </p:blipFill>
        <p:spPr>
          <a:xfrm>
            <a:off x="3819776" y="2832741"/>
            <a:ext cx="4965224" cy="1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/>
          <p:nvPr/>
        </p:nvSpPr>
        <p:spPr>
          <a:xfrm>
            <a:off x="4187500" y="3926125"/>
            <a:ext cx="4350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6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Sampler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81" name="Google Shape;781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  <p:cxnSp>
        <p:nvCxnSpPr>
          <p:cNvPr id="782" name="Google Shape;782;p6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83" name="Google Shape;783;p64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4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4"/>
          <p:cNvPicPr preferRelativeResize="0"/>
          <p:nvPr/>
        </p:nvPicPr>
        <p:blipFill rotWithShape="1">
          <a:blip r:embed="rId5">
            <a:alphaModFix/>
          </a:blip>
          <a:srcRect t="42236" r="65996"/>
          <a:stretch/>
        </p:blipFill>
        <p:spPr>
          <a:xfrm>
            <a:off x="4513175" y="397350"/>
            <a:ext cx="4361349" cy="426587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4"/>
          <p:cNvSpPr/>
          <p:nvPr/>
        </p:nvSpPr>
        <p:spPr>
          <a:xfrm>
            <a:off x="6970000" y="973825"/>
            <a:ext cx="172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64"/>
          <p:cNvSpPr/>
          <p:nvPr/>
        </p:nvSpPr>
        <p:spPr>
          <a:xfrm>
            <a:off x="6467500" y="768625"/>
            <a:ext cx="15825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64"/>
          <p:cNvSpPr/>
          <p:nvPr/>
        </p:nvSpPr>
        <p:spPr>
          <a:xfrm>
            <a:off x="6617500" y="2408676"/>
            <a:ext cx="20775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64"/>
          <p:cNvSpPr txBox="1"/>
          <p:nvPr/>
        </p:nvSpPr>
        <p:spPr>
          <a:xfrm>
            <a:off x="229200" y="1984975"/>
            <a:ext cx="3782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Username &amp; Password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Policy ID</a:t>
            </a:r>
            <a:endParaRPr sz="13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790" name="Google Shape;790;p6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6" name="Google Shape;796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53</a:t>
            </a:fld>
            <a:endParaRPr/>
          </a:p>
        </p:txBody>
      </p:sp>
      <p:cxnSp>
        <p:nvCxnSpPr>
          <p:cNvPr id="797" name="Google Shape;797;p65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8" name="Google Shape;798;p65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5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" y="1163875"/>
            <a:ext cx="9240098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5"/>
          <p:cNvSpPr/>
          <p:nvPr/>
        </p:nvSpPr>
        <p:spPr>
          <a:xfrm>
            <a:off x="5179900" y="1111375"/>
            <a:ext cx="1402500" cy="1848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65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66"/>
          <p:cNvPicPr preferRelativeResize="0"/>
          <p:nvPr/>
        </p:nvPicPr>
        <p:blipFill rotWithShape="1">
          <a:blip r:embed="rId3">
            <a:alphaModFix/>
          </a:blip>
          <a:srcRect l="18073" t="15167"/>
          <a:stretch/>
        </p:blipFill>
        <p:spPr>
          <a:xfrm>
            <a:off x="58300" y="935000"/>
            <a:ext cx="7491499" cy="177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6"/>
          <p:cNvSpPr txBox="1">
            <a:spLocks noGrp="1"/>
          </p:cNvSpPr>
          <p:nvPr>
            <p:ph type="title"/>
          </p:nvPr>
        </p:nvSpPr>
        <p:spPr>
          <a:xfrm>
            <a:off x="311700" y="3936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HTTP Header Manager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9" name="Google Shape;809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54</a:t>
            </a:fld>
            <a:endParaRPr/>
          </a:p>
        </p:txBody>
      </p:sp>
      <p:cxnSp>
        <p:nvCxnSpPr>
          <p:cNvPr id="810" name="Google Shape;810;p66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11" name="Google Shape;811;p66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6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6"/>
          <p:cNvSpPr/>
          <p:nvPr/>
        </p:nvSpPr>
        <p:spPr>
          <a:xfrm>
            <a:off x="159100" y="1888975"/>
            <a:ext cx="780900" cy="324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66"/>
          <p:cNvSpPr/>
          <p:nvPr/>
        </p:nvSpPr>
        <p:spPr>
          <a:xfrm>
            <a:off x="3812500" y="1928725"/>
            <a:ext cx="1695000" cy="284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5" name="Google Shape;815;p66"/>
          <p:cNvPicPr preferRelativeResize="0"/>
          <p:nvPr/>
        </p:nvPicPr>
        <p:blipFill rotWithShape="1">
          <a:blip r:embed="rId6">
            <a:alphaModFix/>
          </a:blip>
          <a:srcRect t="43990"/>
          <a:stretch/>
        </p:blipFill>
        <p:spPr>
          <a:xfrm>
            <a:off x="1081450" y="2732670"/>
            <a:ext cx="8277551" cy="195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6"/>
          <p:cNvSpPr/>
          <p:nvPr/>
        </p:nvSpPr>
        <p:spPr>
          <a:xfrm>
            <a:off x="1562500" y="4001125"/>
            <a:ext cx="3195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66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3" name="Google Shape;823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  <p:cxnSp>
        <p:nvCxnSpPr>
          <p:cNvPr id="824" name="Google Shape;824;p67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5" name="Google Shape;825;p67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7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" y="1163875"/>
            <a:ext cx="9240098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67"/>
          <p:cNvSpPr/>
          <p:nvPr/>
        </p:nvSpPr>
        <p:spPr>
          <a:xfrm>
            <a:off x="6702400" y="1926350"/>
            <a:ext cx="2441700" cy="1210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67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68"/>
          <p:cNvPicPr preferRelativeResize="0"/>
          <p:nvPr/>
        </p:nvPicPr>
        <p:blipFill rotWithShape="1">
          <a:blip r:embed="rId3">
            <a:alphaModFix/>
          </a:blip>
          <a:srcRect l="25595" t="7654" b="68115"/>
          <a:stretch/>
        </p:blipFill>
        <p:spPr>
          <a:xfrm>
            <a:off x="1119275" y="1325450"/>
            <a:ext cx="7974026" cy="147704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8"/>
          <p:cNvSpPr txBox="1">
            <a:spLocks noGrp="1"/>
          </p:cNvSpPr>
          <p:nvPr>
            <p:ph type="title"/>
          </p:nvPr>
        </p:nvSpPr>
        <p:spPr>
          <a:xfrm>
            <a:off x="311700" y="3936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Constant Throughput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6" name="Google Shape;836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  <p:cxnSp>
        <p:nvCxnSpPr>
          <p:cNvPr id="837" name="Google Shape;837;p68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8" name="Google Shape;838;p68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8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68"/>
          <p:cNvSpPr/>
          <p:nvPr/>
        </p:nvSpPr>
        <p:spPr>
          <a:xfrm>
            <a:off x="1217500" y="2294250"/>
            <a:ext cx="2362500" cy="202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68"/>
          <p:cNvSpPr txBox="1"/>
          <p:nvPr/>
        </p:nvSpPr>
        <p:spPr>
          <a:xfrm>
            <a:off x="195000" y="3027963"/>
            <a:ext cx="53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600 samples/minute</a:t>
            </a:r>
            <a:r>
              <a:rPr lang="en-GB" sz="1100">
                <a:solidFill>
                  <a:schemeClr val="dk1"/>
                </a:solidFill>
              </a:rPr>
              <a:t> means </a:t>
            </a:r>
            <a:r>
              <a:rPr lang="en-GB" sz="1100" b="1">
                <a:solidFill>
                  <a:schemeClr val="dk1"/>
                </a:solidFill>
              </a:rPr>
              <a:t>10 requests per second</a:t>
            </a:r>
            <a:r>
              <a:rPr lang="en-GB" sz="1100">
                <a:solidFill>
                  <a:schemeClr val="dk1"/>
                </a:solidFill>
              </a:rPr>
              <a:t> (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600 ÷ 60 = 10</a:t>
            </a:r>
            <a:r>
              <a:rPr lang="en-GB" sz="1100">
                <a:solidFill>
                  <a:schemeClr val="dk1"/>
                </a:solidFill>
              </a:rPr>
              <a:t>).</a:t>
            </a:r>
            <a:endParaRPr/>
          </a:p>
        </p:txBody>
      </p:sp>
      <p:sp>
        <p:nvSpPr>
          <p:cNvPr id="842" name="Google Shape;842;p68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CAS REST API Test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48" name="Google Shape;848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57</a:t>
            </a:fld>
            <a:endParaRPr/>
          </a:p>
        </p:txBody>
      </p:sp>
      <p:cxnSp>
        <p:nvCxnSpPr>
          <p:cNvPr id="849" name="Google Shape;849;p69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50" name="Google Shape;850;p69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69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69"/>
          <p:cNvSpPr txBox="1"/>
          <p:nvPr/>
        </p:nvSpPr>
        <p:spPr>
          <a:xfrm>
            <a:off x="521700" y="1773500"/>
            <a:ext cx="5810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Summary Report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View Results Tree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Response Time Graph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Backend Listener (for dashboard) only active when run from CMD</a:t>
            </a:r>
            <a:endParaRPr/>
          </a:p>
        </p:txBody>
      </p:sp>
      <p:sp>
        <p:nvSpPr>
          <p:cNvPr id="853" name="Google Shape;853;p69"/>
          <p:cNvSpPr txBox="1">
            <a:spLocks noGrp="1"/>
          </p:cNvSpPr>
          <p:nvPr>
            <p:ph type="title"/>
          </p:nvPr>
        </p:nvSpPr>
        <p:spPr>
          <a:xfrm>
            <a:off x="583250" y="1200813"/>
            <a:ext cx="1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20">
                <a:latin typeface="Cambria"/>
                <a:ea typeface="Cambria"/>
                <a:cs typeface="Cambria"/>
                <a:sym typeface="Cambria"/>
              </a:rPr>
              <a:t>Listeners</a:t>
            </a:r>
            <a:endParaRPr sz="21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4" name="Google Shape;854;p69"/>
          <p:cNvSpPr txBox="1">
            <a:spLocks noGrp="1"/>
          </p:cNvSpPr>
          <p:nvPr>
            <p:ph type="title"/>
          </p:nvPr>
        </p:nvSpPr>
        <p:spPr>
          <a:xfrm>
            <a:off x="521700" y="2932875"/>
            <a:ext cx="279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20">
                <a:latin typeface="Cambria"/>
                <a:ea typeface="Cambria"/>
                <a:cs typeface="Cambria"/>
                <a:sym typeface="Cambria"/>
              </a:rPr>
              <a:t>Generate the Dashboard</a:t>
            </a:r>
            <a:endParaRPr sz="212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6698"/>
              <a:buNone/>
            </a:pPr>
            <a:endParaRPr sz="21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5" name="Google Shape;855;p69"/>
          <p:cNvSpPr txBox="1"/>
          <p:nvPr/>
        </p:nvSpPr>
        <p:spPr>
          <a:xfrm>
            <a:off x="791700" y="3542475"/>
            <a:ext cx="747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jmeter.bat</a:t>
            </a:r>
            <a:r>
              <a:rPr lang="en-GB"/>
              <a:t> -n -t ..\..\CAS_TEST.jmx -l ..\..\results.jtl -e -o ..\..\dashboard</a:t>
            </a:r>
            <a:endParaRPr/>
          </a:p>
        </p:txBody>
      </p:sp>
      <p:sp>
        <p:nvSpPr>
          <p:cNvPr id="856" name="Google Shape;856;p69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IDR RADIUS Test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2" name="Google Shape;862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58</a:t>
            </a:fld>
            <a:endParaRPr/>
          </a:p>
        </p:txBody>
      </p:sp>
      <p:cxnSp>
        <p:nvCxnSpPr>
          <p:cNvPr id="863" name="Google Shape;863;p70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64" name="Google Shape;864;p70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0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5" y="1043675"/>
            <a:ext cx="9144002" cy="3688263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0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IDR RADIUS Test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3" name="Google Shape;873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59</a:t>
            </a:fld>
            <a:endParaRPr/>
          </a:p>
        </p:txBody>
      </p:sp>
      <p:cxnSp>
        <p:nvCxnSpPr>
          <p:cNvPr id="874" name="Google Shape;874;p71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75" name="Google Shape;875;p71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1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5" y="1043675"/>
            <a:ext cx="9144002" cy="3688263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1"/>
          <p:cNvSpPr/>
          <p:nvPr/>
        </p:nvSpPr>
        <p:spPr>
          <a:xfrm>
            <a:off x="3917500" y="972500"/>
            <a:ext cx="1479900" cy="198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71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72"/>
          <p:cNvPicPr preferRelativeResize="0"/>
          <p:nvPr/>
        </p:nvPicPr>
        <p:blipFill rotWithShape="1">
          <a:blip r:embed="rId3">
            <a:alphaModFix/>
          </a:blip>
          <a:srcRect l="14792" t="17348"/>
          <a:stretch/>
        </p:blipFill>
        <p:spPr>
          <a:xfrm>
            <a:off x="1352500" y="933225"/>
            <a:ext cx="7791499" cy="315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2"/>
          <p:cNvSpPr txBox="1">
            <a:spLocks noGrp="1"/>
          </p:cNvSpPr>
          <p:nvPr>
            <p:ph type="title"/>
          </p:nvPr>
        </p:nvSpPr>
        <p:spPr>
          <a:xfrm>
            <a:off x="311700" y="3936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/>
                <a:ea typeface="Cambria"/>
                <a:cs typeface="Cambria"/>
                <a:sym typeface="Cambria"/>
              </a:rPr>
              <a:t>Sampler Configuration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6" name="Google Shape;886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60</a:t>
            </a:fld>
            <a:endParaRPr/>
          </a:p>
        </p:txBody>
      </p:sp>
      <p:cxnSp>
        <p:nvCxnSpPr>
          <p:cNvPr id="887" name="Google Shape;887;p72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8" name="Google Shape;888;p72" title="500px-GUC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2" title="RSA_Security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2"/>
          <p:cNvSpPr/>
          <p:nvPr/>
        </p:nvSpPr>
        <p:spPr>
          <a:xfrm>
            <a:off x="3729100" y="3083725"/>
            <a:ext cx="14184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72"/>
          <p:cNvSpPr/>
          <p:nvPr/>
        </p:nvSpPr>
        <p:spPr>
          <a:xfrm>
            <a:off x="4427500" y="2341400"/>
            <a:ext cx="1080000" cy="284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72"/>
          <p:cNvSpPr/>
          <p:nvPr/>
        </p:nvSpPr>
        <p:spPr>
          <a:xfrm>
            <a:off x="1757500" y="3131125"/>
            <a:ext cx="1770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72"/>
          <p:cNvSpPr/>
          <p:nvPr/>
        </p:nvSpPr>
        <p:spPr>
          <a:xfrm>
            <a:off x="6776500" y="2732425"/>
            <a:ext cx="1551000" cy="2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2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3"/>
          <p:cNvSpPr txBox="1">
            <a:spLocks noGrp="1"/>
          </p:cNvSpPr>
          <p:nvPr>
            <p:ph type="title"/>
          </p:nvPr>
        </p:nvSpPr>
        <p:spPr>
          <a:xfrm>
            <a:off x="311700" y="245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mbria"/>
                <a:ea typeface="Cambria"/>
                <a:cs typeface="Cambria"/>
                <a:sym typeface="Cambria"/>
              </a:rPr>
              <a:t>Comparison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0" name="Google Shape;900;p73"/>
          <p:cNvGraphicFramePr/>
          <p:nvPr/>
        </p:nvGraphicFramePr>
        <p:xfrm>
          <a:off x="764325" y="865325"/>
          <a:ext cx="7615350" cy="3734075"/>
        </p:xfrm>
        <a:graphic>
          <a:graphicData uri="http://schemas.openxmlformats.org/drawingml/2006/table">
            <a:tbl>
              <a:tblPr>
                <a:noFill/>
                <a:tableStyleId>{D9D048A7-DF09-4D06-8713-BF211CBF74F3}</a:tableStyleId>
              </a:tblPr>
              <a:tblGrid>
                <a:gridCol w="120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Feature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SP-Initiated Authentication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IdP-Initiated Authentication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Initiating Party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Service Provider (SP)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Identity Provider (IdP)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2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Authn. Flow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 User accesses SP through the link provided, this initiates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AuthnRequest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to the IdP.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 SP send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AuthnRequest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to the IdP and redirects user to the Idp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 IdP authenticates user using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username and password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 User is then prompted to enter an OTP from the authenticator app.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5. If both credentials and MFA succeed, the IdP generates a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 Response 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and sends it to the SP.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6. SP verifies the SAML Response and grants access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 User accesses IdP portal (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mypage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 IdP (mypage) authenticates user using primary auth (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user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+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password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 then a step up authentication (push notification and approve on mobile phone)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 user clicks on the application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 IdP sends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response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to SP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 SP requires another MFA (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Authentication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OTP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from the app on the phone)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5. SP grants access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1" name="Google Shape;901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Cambria"/>
                <a:ea typeface="Cambria"/>
                <a:cs typeface="Cambria"/>
                <a:sym typeface="Cambria"/>
              </a:rPr>
              <a:t>61</a:t>
            </a:fld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902" name="Google Shape;902;p73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3" name="Google Shape;903;p73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3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25" y="74600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3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0" name="Google Shape;910;p74"/>
          <p:cNvGraphicFramePr/>
          <p:nvPr/>
        </p:nvGraphicFramePr>
        <p:xfrm>
          <a:off x="448088" y="1267225"/>
          <a:ext cx="8247825" cy="2609050"/>
        </p:xfrm>
        <a:graphic>
          <a:graphicData uri="http://schemas.openxmlformats.org/drawingml/2006/table">
            <a:tbl>
              <a:tblPr>
                <a:noFill/>
                <a:tableStyleId>{D9D048A7-DF09-4D06-8713-BF211CBF74F3}</a:tableStyleId>
              </a:tblPr>
              <a:tblGrid>
                <a:gridCol w="18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Feature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SP-Initiated Authentication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IdP-Initiated Authentication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User Experience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Starts from the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RSA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Demo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app (typing the url of the app in the portal taken from the IdP metadata )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Starts from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my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page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 Request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Sent by SP to IdP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Not required (unsolicited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response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from IdP)</a:t>
                      </a:r>
                      <a:endParaRPr sz="11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SAML Response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Returned from IdP to SP after authentication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Directly generated by IdP after login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 Case Suitability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Best when users directly access apps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Best for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SSO</a:t>
                      </a:r>
                      <a:r>
                        <a:rPr lang="en-GB" sz="11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portals like </a:t>
                      </a:r>
                      <a:r>
                        <a:rPr lang="en-GB" sz="11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mypage</a:t>
                      </a:r>
                      <a:endParaRPr sz="11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525" marR="9525" marT="9525" marB="95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1" name="Google Shape;911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Cambria"/>
                <a:ea typeface="Cambria"/>
                <a:cs typeface="Cambria"/>
                <a:sym typeface="Cambria"/>
              </a:rPr>
              <a:t>62</a:t>
            </a:fld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912" name="Google Shape;912;p74"/>
          <p:cNvCxnSpPr/>
          <p:nvPr/>
        </p:nvCxnSpPr>
        <p:spPr>
          <a:xfrm rot="10800000" flipH="1">
            <a:off x="0" y="4703625"/>
            <a:ext cx="9144000" cy="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3" name="Google Shape;913;p74" title="500px-GUC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0" y="4703625"/>
            <a:ext cx="1033903" cy="4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4" title="RSA_Security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0075" y="84125"/>
            <a:ext cx="895075" cy="2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4"/>
          <p:cNvSpPr txBox="1"/>
          <p:nvPr/>
        </p:nvSpPr>
        <p:spPr>
          <a:xfrm>
            <a:off x="0" y="4918525"/>
            <a:ext cx="9144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RSA IAM Framework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1631</Words>
  <Application>Microsoft Office PowerPoint</Application>
  <PresentationFormat>On-screen Show (16:9)</PresentationFormat>
  <Paragraphs>344</Paragraphs>
  <Slides>62</Slides>
  <Notes>62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Lato</vt:lpstr>
      <vt:lpstr>Dancing Script</vt:lpstr>
      <vt:lpstr>Cambria</vt:lpstr>
      <vt:lpstr>Arial</vt:lpstr>
      <vt:lpstr>Roboto Mono</vt:lpstr>
      <vt:lpstr>Times New Roman</vt:lpstr>
      <vt:lpstr>Simple Light</vt:lpstr>
      <vt:lpstr>RSA IAM Framework</vt:lpstr>
      <vt:lpstr>PowerPoint Presentation</vt:lpstr>
      <vt:lpstr>Outline</vt:lpstr>
      <vt:lpstr>Foundation Setup </vt:lpstr>
      <vt:lpstr>Setting up Domain Controller VM </vt:lpstr>
      <vt:lpstr>Configure Domain Controller - Network Settings</vt:lpstr>
      <vt:lpstr>Configure IDR - Network Settings</vt:lpstr>
      <vt:lpstr>IDR connected to the CAS</vt:lpstr>
      <vt:lpstr>Synchronizing AD with the CAS </vt:lpstr>
      <vt:lpstr>Configuring Access Policy 2.0 for My Page</vt:lpstr>
      <vt:lpstr>Accessing My Page</vt:lpstr>
      <vt:lpstr>2.  Enable MFA</vt:lpstr>
      <vt:lpstr>MFA Implementation Workflow</vt:lpstr>
      <vt:lpstr>Configure MFA Policy at  CAS </vt:lpstr>
      <vt:lpstr>Configure MFA Agent - Network Settings</vt:lpstr>
      <vt:lpstr>Configure MFA Agent - GPO </vt:lpstr>
      <vt:lpstr>Configure MFA Agent - GPO </vt:lpstr>
      <vt:lpstr>Online Test</vt:lpstr>
      <vt:lpstr>Offline Test</vt:lpstr>
      <vt:lpstr>Configure RADIUS Client - on MFA Agent</vt:lpstr>
      <vt:lpstr>NTRADPing</vt:lpstr>
      <vt:lpstr>3.  App-Level Security</vt:lpstr>
      <vt:lpstr>What We Did</vt:lpstr>
      <vt:lpstr>SAML Access Policy</vt:lpstr>
      <vt:lpstr>Configuration Overview</vt:lpstr>
      <vt:lpstr>Configuration Overview</vt:lpstr>
      <vt:lpstr>Configuration Overview</vt:lpstr>
      <vt:lpstr>IdP-Initiated Flow</vt:lpstr>
      <vt:lpstr>SP-Initiated Flow</vt:lpstr>
      <vt:lpstr>Login and test with MyPage</vt:lpstr>
      <vt:lpstr>Login and test with URL</vt:lpstr>
      <vt:lpstr>Linking Back to Previous Phases</vt:lpstr>
      <vt:lpstr>4.  Stress Testing</vt:lpstr>
      <vt:lpstr>CAS REST API Test  </vt:lpstr>
      <vt:lpstr>IDR RADIUS Test</vt:lpstr>
      <vt:lpstr>Conclusion &amp; Recommendations</vt:lpstr>
      <vt:lpstr>CAS Rest Api Test Results</vt:lpstr>
      <vt:lpstr>CAS Rest Api Test Results</vt:lpstr>
      <vt:lpstr>CAS Rest Api Test Results</vt:lpstr>
      <vt:lpstr>IDR RADIUS Test Results </vt:lpstr>
      <vt:lpstr>IDR RADIUS Test Results </vt:lpstr>
      <vt:lpstr>IDR RADIUS Test Results </vt:lpstr>
      <vt:lpstr>Recommendations </vt:lpstr>
      <vt:lpstr>PowerPoint Presentation</vt:lpstr>
      <vt:lpstr>PowerPoint Presentation</vt:lpstr>
      <vt:lpstr>EXTRA SLIDES FOR QUESTIONS </vt:lpstr>
      <vt:lpstr>CAS REST API Test  </vt:lpstr>
      <vt:lpstr>CAS REST API Test  </vt:lpstr>
      <vt:lpstr>Thread Group Configuration</vt:lpstr>
      <vt:lpstr>CAS REST API Test  </vt:lpstr>
      <vt:lpstr>Sampler Configuration</vt:lpstr>
      <vt:lpstr>Sampler Configuration</vt:lpstr>
      <vt:lpstr>CAS REST API Test  </vt:lpstr>
      <vt:lpstr>HTTP Header Manager Configuration</vt:lpstr>
      <vt:lpstr>CAS REST API Test  </vt:lpstr>
      <vt:lpstr>Constant Throughput Configuration </vt:lpstr>
      <vt:lpstr>CAS REST API Test </vt:lpstr>
      <vt:lpstr>IDR RADIUS Test</vt:lpstr>
      <vt:lpstr>IDR RADIUS Test</vt:lpstr>
      <vt:lpstr>Sampler Configuration</vt:lpstr>
      <vt:lpstr>Comparison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Omar Ahmed</cp:lastModifiedBy>
  <cp:revision>2</cp:revision>
  <dcterms:modified xsi:type="dcterms:W3CDTF">2025-05-19T08:30:54Z</dcterms:modified>
</cp:coreProperties>
</file>